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every brand conversation around measurable business outcomes, trial signups, and multi-touch trust rather than commodity CPM impressions.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74% of readers control or influence software budgets—making each view worth 8x to 12x a general entertainment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Script S01 whenever a brand asks for your CPM rate: reframe the conversation around cost per qualified software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verified trailing-90-day screenshots from YouTube Studio and your ESP to establish immediate quantitative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Disqualifying low-fit consumer sponsors increases your authority with high-LTV B2B software brands.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sponsors through this exact 4-part storyboard so they see why a 60s native demo outperforms a 60s talking-head ad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Bundling email + LinkedIn with YouTube justifies a 2.2x higher package fee while costing you only 15 minutes of extra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deliver the Day-14 Proof-of-Performance report automatically—it is the #1 driver of quarterly retainer renewals.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all three tiers side-by-side so Tier B ($3,200) and Tier C ($8,400) anchor the value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give away perpetual usage rights for free. A 60-day whitelisting license adds +60% pure-margin revenue to every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timelines and a strict 1-round factual revision cap protect your 4-hour weekly batch production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every pitch deck with a clear 3-step onboarding action and scarcity around your 2 monthly sponsor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01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Creator Authority &amp; Omnichannel Brand Partnership Pitch Deck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Outcome-Based B2B &amp; Prosumer Sponsorship Architecture (Chapters 9–10)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COMBINED REACH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28,500+ Subs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High-Intent Practitioners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EMAIL OPEN RATE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49.4% Verified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7.2% Unique Link CTR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30S HOOK HOLD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73.8% Retention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54.6% Pillar AVD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Why High-Intent Creator Partnerships Win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Our audience consists of founders, operators, and technical buyers actively evaluating software tools.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Every weekly tutorial demonstrates real workflows live on screen rather than reading passive ad scripts.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Evergreen search indexing drives compounding trial signups for 12 to 24 months after publication.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Partnership Overview &amp; Core Deliverables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Integrated YouTube Long-Form Pillar demonstrations (60–90s mid-roll workflow segment).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Dual top-of-fold placements inside our owned operator email newsletter.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Native LinkedIn &amp; X authority breakdowns plus optional 30–90 day paid-ad whitelisting rights.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Position every brand conversation around measurable business outcomes, trial signups, and multi-touch trust rather than commodity CPM impressions.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02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Audience Profile &amp; High-Intent Decision-Maker Demographics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Who Consumes Our Weekly Pillar Tutorials &amp; Operator Newsletters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FOUNDERS &amp; EXECS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38% of Audience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Direct Budget Authority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OPS &amp; PRODUCT LEADS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29% of Audience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Tool Stack Architects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ANNUAL SAAS SPEND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$2.5K – $25K+/yr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74% Influence Software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Demographic &amp; Firmographic Breakdown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38% Solo Founders, Agency Owners &amp; Managing Directors.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29% Senior Operations, Engineering, RevOps &amp; Product Managers.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21% Independent Technical Consultants &amp; Creator-Operators.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Geographic Split: 52% US/Canada, 26% UK/EU, 14% APAC, 8%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Psychographic Buying Triggers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Actively replacing manual 30-hour workflows with automated software and AI systems.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Purchase decisions driven by verified hours saved, API/workflow reliability, and ROI math.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High affinity for B2B SaaS, AI productivity tools, fintech, cloud infrastructure, and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Highlight that 74% of readers control or influence software budgets—making each view worth 8x to 12x a general entertainment impression.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03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Why Standard CPM Impressions Fail vs. High-Trust Creator Integration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Eliminating the 65% Ad-Skip Cliff Through Native Workflow Demonstrations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LEGACY AD SKIP RATE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65%+ Viewers Skip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Generic 30s Press Releases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NATIVE DEMO HOLD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91% Segment Hold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Embedded Inside Tutorial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TRIAL CONVERSION LIFT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4.4x Higher CVR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Multi-Touch Omnichannel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The Legacy $25 CPM Sponsorship Failure Mode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Viewers immediately recognize and skip disconnected, scripted voiceover reads.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Single-touch video mentions fail to capture users who are commuting or watching on mobile.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Zero follow-up in email or text feeds means 95% of interested viewers forget to sign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Our Native Problem-Solution Integration Method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Your tool is introduced as the concrete solution to Step 2 of the tutorial problem.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Viewers watch a real 60-second screen-share demonstration producing a tangible output.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Identical UTM link is reinforced 48 hours later in our Tuesday and Friday email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Use Script S01 whenever a brand asks for your CPM rate: reframe the conversation around cost per qualified software trial.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04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Cross-Platform Reach &amp; Retention Telemetry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Verified 90-Day Engagement Across YouTube, Email Newsletter &amp; LinkedIn/X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PILLAR VIDEO CTR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8.4% Avg CTR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Outlier M &gt;= 2.5x Validated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NEWSLETTER CTR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7.2% Unique Clicks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11,400+ Active Subscribers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OMNICHANNEL REACH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145,000+ / Mo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Across 15 Weekly Native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Long-Form Video &amp; Search Compounding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Average first-14-day views: 16,400+ per Pillar Tutorial.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Long-tail YouTube &amp; Google search traffic adds +45% to +65% additional views over Days 15–90.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73.8% 30-second C.L.I.P. hook retention ensures your mid-roll placement reaches deep-focus 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Owned Newsletter &amp; B2B Social Amplification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11,400+ double-opt-in email subscribers with 49.4% open rate.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Strict 60-day cold-subscriber pruning guarantees high inbox placement.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LinkedIn long-form posts and 8-slide PDF carousels reach desktop B2B buyers during work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Share verified trailing-90-day screenshots from YouTube Studio and your ESP to establish immediate quantitative credibility.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05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Audience-Offer Alignment &amp; High-Converting Product Categories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Where Sponsor Products Fit Inside the 5-Stage Operator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CATEGORY FIT SCORE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NMPI &gt;= 85/100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Direct Workflow Utility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AVG LINK CLICKS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650 – 1,250 / Sprint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Verified UTM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FREE-TO-PAID TRIAL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18% – 26% Conv.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High-Intent Self-Serve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Top-Performing Partner Categories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AI Writing, Coding, Audio/Video &amp; Workflow Automation Platforms.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No-Code Databases, CRM, Project Management &amp; Knowledge Systems.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Solopreneur Banking, Tax/Invoicing, Checkout &amp; Email Marketing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Pre-Integration Fit Verification Gate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 only accept sponsors whose products we can genuinely demonstrate on screen.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Every campaign includes a custom use-case angle matched to our validated Outlier Backlog.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Guarantees authentic enthusiasm and protects long-term audience conversion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Disqualifying low-fit consumer sponsors increases your authority with high-LTV B2B software brands.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06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Native Integration Format #1 — Deep-Dive Mid-Roll Walkthrough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60–90 Second Screen-Share Demonstration Positioned at Peak Retention (Minute 04:30)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PLACEMENT WINDOW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04:15 – 05:45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Right After Block 1 Problem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VISUAL FORMAT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Live Screen Demo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+ Custom Architecture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CTA PLACEMENT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Pinned + Top Line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+ Verbal Companion Kit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4-Part Mid-Roll Storyboard Structure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0:00–0:15: Connect the tutorial bottleneck directly to the friction your tool eliminates.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0:15–0:50: Show 3 concrete clicks inside your software producing a live result on screen.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0:50–1:15: Quantify the time or money saved and direct viewers to the top description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Permanent Evergreen Asset Value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Your workflow segment is permanently baked into the master tutorial video.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Chapter markers and pinned comment links remain active for a minimum of 12 months.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Included inside our downloadable chapter worksheet so readers click straight from the PDF.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Walk sponsors through this exact 4-part storyboard so they see why a 60s native demo outperforms a 60s talking-head ad 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07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Native Integration Format #2 — Newsletter &amp; Visual Carousel Integration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Capturing Desktop Decision-Makers With High-CTR Written &amp; Visual Placements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PRIMARY TOP BOX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150 Words + Logo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Above the Fold in Tuesday Issue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FRIDAY SPOTLIGHT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100 Words + CTA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Reinforcement in Offer Issue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LINKEDIN CAROUSEL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8-Slide PDF Deck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Dedicated Tool Slide + First Comment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Dual Email Newsletter Placement Architecture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Tuesday Value Issue: Top-of-fold Sponsor Callout Box with headline, 3 outcome bullets, and button.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Friday Operator Issue: Mid-issue reminder highlighting your free trial or exclusive partner bonus.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Reaches readers in their inbox with 1-click desktop access to your signup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LinkedIn &amp; X Native Social Amplification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1x Long-Form LinkedIn Breakdown + 1x 8-Slide PDF Carousel featuring your workflow.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1x 8-Post X Thread with your tracked trial link in the summary post.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Captures B2B decision-makers who prefer written step-by-step guides over video.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Bundling email + LinkedIn with YouTube justifies a 2.2x higher package fee while costing you only 15 minutes of extra formatting.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08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Verified Sponsor Case Study Proof (Clicks, Trials &amp; Attribution)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Empirical Campaign Results From Recent B2B &amp; Prosumer Partnerships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8/12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CASE A: B2B SAAS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1,140 UTM Clicks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312 Trials / $28.4K ARR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CASE B: AI TOOL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3,480 UTM Clicks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890+ Signups Across 3 Sprints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CASE C: FINTECH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790 UTM Clicks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164 Funded Business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Why Our Multi-Touch Campaigns Convert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Viewers see the tool working in the YouTube tutorial on Tuesday morning.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Readers click the UTM link inside the Tuesday afternoon newsletter while at their desk.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Whitelisted 60-second cutdowns retarget warm viewers across LinkedIn and Meta for 30–90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Transparent Day-14 Proof-of-Performance Reporting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Every sponsor receives a structured Day-14 ROI Telemetry Report (Prompt P49).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Includes verified 14-day views, mid-roll retention graph, newsletter opens, and unique UTM clicks.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Drives our 70%+ multi-sprint partner renewal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Always deliver the Day-14 Proof-of-Performance report automatically—it is the #1 driver of quarterly retainer renewals.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09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3-Tier Omnichannel Outcome Sponsorship Packages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Turnkey Pricing &amp; Deliverable Matrix Engineered for Predictable Partner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TIER A: SINGLE SPRINT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$1,850 USD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 Pillar Video + 1 Newsletter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TIER B: CONVERSION BUNDLE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$3,200 USD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Pillar + 2 Emails + Social + 30d Ad Rights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TIER C: QUARTERLY PARTNER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$8,400 USD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3 Monthly Sprints + 90d Exclusivity (Save 15%)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Tier A ($1,850) vs. Tier B ($3,200 — Most Popular)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Tier A is ideal for initial single-sprint pilot validation (1 Pillar Video + 1 Newsletter).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Tier B adds a second newsletter issue, LinkedIn/X posts, Featured Resource Vault placement, and 30 days of Paid-Ad Whitelisting rights.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Over 75% of partners select Tier B or Tier C for multi-touch conversion lift.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Tier C: Quarterly Category Partner ($8,400 — 3 Sprints)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Locks 3 consecutive monthly omnichannel sprints at a 15% multi-sprint discount.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Includes 90 days of full Paid-Ad Whitelisting rights and 90-day direct competitor exclusivity.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Establishes your brand as the default category recommendation for our audience.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Present all three tiers side-by-side so Tier B ($3,200) and Tier C ($8,400) anchor the value conversation.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10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Paid-Ad Whitelisting, Usage Rights (30%/Mo) &amp; Exclusivity Options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How Brands Scale Our High-Trust Workflow Demo Across Paid Acquisition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WHITELISTING RATE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+30% / 30 Days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Of Base Package Placement Fee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CREATOR CUTDOWN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60s Vertical + 16:9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Ready for Meta, YouTube &amp; LinkedIn 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CATEGORY LOCK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30 to 90 Days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Zero Direct Competitor Mentions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High-ROAS Paid Social Cutdowns &amp; Spark Ads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Studio-recorded agency ads suffer from ad fatigue; creator workflow demos convert 2.5x–3.2x higher.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 deliver a clean 60-second 16:9 and 9:16 cutdown of the integration segment.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Your team can run the clip on Meta, LinkedIn, YouTube, or embed it on your landing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Clear Intellectual Property &amp; AI Protection Terms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Usage rights are licensed in clean 30-, 60-, or 90-day increments (+30% of base rate/month).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Category exclusivity locks out up to 3 named direct competitors during the active window.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Contract strictly prohibits feeding creator voice or likeness into generative AI training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Never give away perpetual usage rights for free. A 60-day whitelisting license adds +60% pure-margin revenue to every deal.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11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14-Day Production, Factual Review &amp; Publishing Timeline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Zero-Friction Async Onboarding From Brief Approval to Live Omnichannel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DAY 01 – 03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Contract &amp; Brief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50% Deposit + 3 Talking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DAY 07 – 10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Storyboard &amp; Shoot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1-Round Factual Check (48h SLA)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DAY 14 &amp; DAY 28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Launch &amp; ROI Report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Live Links + Day-14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Days 01–07: Alignment &amp; Storyboard Lock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01: Sign 2-page Creator-Protection Agreement &amp; remit 50% calendar reservation deposit.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03: Partner shares product access, target UTM link, and 3 factual talking points.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07: We deliver the 60s integration storyboard for a single consolidated factual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Days 10–28: Batch Execution, Launch &amp; ROI Audit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10–12: Segment recorded during Wednesday Block 3 and verified via 12-Point QA Gate.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14: Pillar video, newsletter issues, and LinkedIn/X posts go live; balance invoiced Net-15.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Day 28: Delivery of Day-14 Proof-of-Performance ROI Report and quarterly renewal option.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Clear timelines and a strict 1-round factual revision cap protect your 4-hour weekly batch production schedule.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01 · SPONSORSHIP PITCH DECK  ·  SLIDE 12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Next Steps &amp; Partnership Onboarding Contact Card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Reserve Your Upcoming Sprint Slot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AVAILABLE SLOTS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 Sprints / Month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Limited Inventory for High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RESERVATION LOCK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50% Deposit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Net-15 Balance Upon Publication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FAST ONBOARDING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48-Hour Setup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Direct Founder-to-Partner Comms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How to Lock Your Target Publication Week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Step 1: Reply with your preferred package tier (Tier A, Tier B, or Tier C Quarterly).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Step 2: Confirm your target publication month and primary conversion URL.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Step 3: We issue the 2-page agreement and invoice so your slot is locked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Direct Studio Partnership Contact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Publisher / Imprint: Apex Digital Systems Studio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Primary Channel &amp; Newsletter: [INSERT YOUR CHANNEL / SUBSTACK URL]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Partnership Desk Email: [INSERT YOUR PARTNERSHIP EMAIL ADDRESS]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Close every pitch deck with a clear 3-step onboarding action and scarcity around your 2 monthly sponsor slots.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